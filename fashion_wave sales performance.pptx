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3" r:id="rId8"/>
    <p:sldId id="264" r:id="rId9"/>
    <p:sldId id="265" r:id="rId10"/>
    <p:sldId id="266" r:id="rId11"/>
    <p:sldId id="267"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4"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53" d="100"/>
          <a:sy n="53" d="100"/>
        </p:scale>
        <p:origin x="180" y="54"/>
      </p:cViewPr>
      <p:guideLst>
        <p:guide orient="horz" pos="2134"/>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60500" y="814705"/>
            <a:ext cx="9066530" cy="1558290"/>
          </a:xfrm>
          <a:gradFill>
            <a:gsLst>
              <a:gs pos="50000">
                <a:schemeClr val="tx1"/>
              </a:gs>
              <a:gs pos="0">
                <a:schemeClr val="tx1">
                  <a:lumMod val="25000"/>
                  <a:lumOff val="75000"/>
                </a:schemeClr>
              </a:gs>
              <a:gs pos="100000">
                <a:schemeClr val="tx1">
                  <a:lumMod val="85000"/>
                </a:schemeClr>
              </a:gs>
            </a:gsLst>
            <a:lin ang="5400000" scaled="1"/>
          </a:gradFill>
        </p:spPr>
        <p:txBody>
          <a:bodyPr/>
          <a:lstStyle/>
          <a:p>
            <a:r>
              <a:rPr lang="en-IN" altLang="en-US" sz="3200" dirty="0">
                <a:latin typeface="Footlight MT Light" panose="0204060206030A020304" charset="0"/>
                <a:cs typeface="Footlight MT Light" panose="0204060206030A020304" charset="0"/>
              </a:rPr>
              <a:t>FASHION_WAVE SALES PERFORMANCE </a:t>
            </a:r>
            <a:r>
              <a:rPr lang="en-IN" altLang="en-US" sz="3200" dirty="0">
                <a:solidFill>
                  <a:schemeClr val="tx1"/>
                </a:solidFill>
                <a:latin typeface="Footlight MT Light" panose="0204060206030A020304" charset="0"/>
                <a:cs typeface="Footlight MT Light" panose="0204060206030A020304" charset="0"/>
              </a:rPr>
              <a:t>DASHBOARD</a:t>
            </a:r>
            <a:endParaRPr lang="en-IN" altLang="en-US" sz="3200" dirty="0">
              <a:solidFill>
                <a:schemeClr val="tx1"/>
              </a:solidFill>
              <a:latin typeface="Footlight MT Light" panose="0204060206030A020304" charset="0"/>
              <a:cs typeface="Footlight MT Light" panose="0204060206030A020304" charset="0"/>
            </a:endParaRPr>
          </a:p>
        </p:txBody>
      </p:sp>
      <p:sp>
        <p:nvSpPr>
          <p:cNvPr id="3" name="Subtitle 2"/>
          <p:cNvSpPr>
            <a:spLocks noGrp="1"/>
          </p:cNvSpPr>
          <p:nvPr>
            <p:ph type="subTitle" idx="1"/>
          </p:nvPr>
        </p:nvSpPr>
        <p:spPr>
          <a:xfrm>
            <a:off x="1460500" y="1052830"/>
            <a:ext cx="9144000" cy="5068570"/>
          </a:xfrm>
        </p:spPr>
        <p:txBody>
          <a:bodyPr/>
          <a:lstStyle/>
          <a:p>
            <a:endParaRPr lang="en-US"/>
          </a:p>
        </p:txBody>
      </p:sp>
      <p:pic>
        <p:nvPicPr>
          <p:cNvPr id="4" name="Picture 3" descr="77a85d0f-c958-4daf-904f-08f12ed6eb3d"/>
          <p:cNvPicPr>
            <a:picLocks noChangeAspect="1"/>
          </p:cNvPicPr>
          <p:nvPr/>
        </p:nvPicPr>
        <p:blipFill>
          <a:blip r:embed="rId1"/>
          <a:stretch>
            <a:fillRect/>
          </a:stretch>
        </p:blipFill>
        <p:spPr>
          <a:xfrm>
            <a:off x="0" y="0"/>
            <a:ext cx="12192000" cy="6858000"/>
          </a:xfrm>
          <a:prstGeom prst="rect">
            <a:avLst/>
          </a:prstGeom>
        </p:spPr>
      </p:pic>
      <p:sp>
        <p:nvSpPr>
          <p:cNvPr id="5" name="Rectangles 4"/>
          <p:cNvSpPr/>
          <p:nvPr/>
        </p:nvSpPr>
        <p:spPr>
          <a:xfrm>
            <a:off x="4723130" y="589280"/>
            <a:ext cx="83820" cy="9461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Rectangles 5"/>
          <p:cNvSpPr/>
          <p:nvPr/>
        </p:nvSpPr>
        <p:spPr>
          <a:xfrm>
            <a:off x="-635" y="2584450"/>
            <a:ext cx="8949055" cy="1722755"/>
          </a:xfrm>
          <a:prstGeom prst="rect">
            <a:avLst/>
          </a:prstGeom>
          <a:solidFill>
            <a:schemeClr val="tx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 name="Text Box 6"/>
          <p:cNvSpPr txBox="1"/>
          <p:nvPr/>
        </p:nvSpPr>
        <p:spPr>
          <a:xfrm>
            <a:off x="568325" y="2907030"/>
            <a:ext cx="8166100" cy="1043305"/>
          </a:xfrm>
          <a:prstGeom prst="rect">
            <a:avLst/>
          </a:prstGeom>
          <a:noFill/>
        </p:spPr>
        <p:txBody>
          <a:bodyPr wrap="square" rtlCol="0">
            <a:noAutofit/>
          </a:bodyPr>
          <a:p>
            <a:pPr algn="ctr"/>
            <a:r>
              <a:rPr lang="en-IN" altLang="en-US" sz="3600" b="1">
                <a:solidFill>
                  <a:schemeClr val="bg1"/>
                </a:solidFill>
                <a:latin typeface="Footlight MT Light" panose="0204060206030A020304" charset="0"/>
                <a:cs typeface="Footlight MT Light" panose="0204060206030A020304" charset="0"/>
              </a:rPr>
              <a:t>FASHION_WAVE SALES DASHBOARD</a:t>
            </a:r>
            <a:endParaRPr lang="en-IN" altLang="en-US" sz="3600" b="1">
              <a:solidFill>
                <a:schemeClr val="bg1"/>
              </a:solidFill>
              <a:latin typeface="Footlight MT Light" panose="0204060206030A020304" charset="0"/>
              <a:cs typeface="Footlight MT Light" panose="0204060206030A020304" charset="0"/>
            </a:endParaRPr>
          </a:p>
        </p:txBody>
      </p:sp>
      <p:sp>
        <p:nvSpPr>
          <p:cNvPr id="8" name="Text Box 7"/>
          <p:cNvSpPr txBox="1"/>
          <p:nvPr/>
        </p:nvSpPr>
        <p:spPr>
          <a:xfrm>
            <a:off x="2470785" y="4386580"/>
            <a:ext cx="6477635" cy="368300"/>
          </a:xfrm>
          <a:prstGeom prst="rect">
            <a:avLst/>
          </a:prstGeom>
          <a:gradFill>
            <a:gsLst>
              <a:gs pos="50000">
                <a:schemeClr val="accent5"/>
              </a:gs>
              <a:gs pos="0">
                <a:schemeClr val="accent5">
                  <a:lumMod val="25000"/>
                  <a:lumOff val="75000"/>
                </a:schemeClr>
              </a:gs>
              <a:gs pos="100000">
                <a:schemeClr val="accent5">
                  <a:lumMod val="85000"/>
                </a:schemeClr>
              </a:gs>
            </a:gsLst>
            <a:lin ang="5400000" scaled="1"/>
          </a:gradFill>
        </p:spPr>
        <p:txBody>
          <a:bodyPr wrap="square" rtlCol="0">
            <a:spAutoFit/>
          </a:bodyPr>
          <a:p>
            <a:r>
              <a:rPr lang="en-IN" altLang="en-US" b="1">
                <a:solidFill>
                  <a:schemeClr val="bg1"/>
                </a:solidFill>
              </a:rPr>
              <a:t>WEEKEND VS WEEKDAY INSIGHTS &amp; +15% GROWTH STRATEGY</a:t>
            </a:r>
            <a:endParaRPr lang="en-IN" altLang="en-US" b="1">
              <a:solidFill>
                <a:schemeClr val="bg1"/>
              </a:solidFill>
            </a:endParaRPr>
          </a:p>
        </p:txBody>
      </p:sp>
      <p:sp>
        <p:nvSpPr>
          <p:cNvPr id="9" name="Text Box 8"/>
          <p:cNvSpPr txBox="1"/>
          <p:nvPr/>
        </p:nvSpPr>
        <p:spPr>
          <a:xfrm>
            <a:off x="7782560" y="5563870"/>
            <a:ext cx="4409440" cy="1219200"/>
          </a:xfrm>
          <a:prstGeom prst="rect">
            <a:avLst/>
          </a:prstGeom>
          <a:noFill/>
        </p:spPr>
        <p:txBody>
          <a:bodyPr wrap="square" rtlCol="0">
            <a:noAutofit/>
          </a:bodyPr>
          <a:p>
            <a:pPr indent="457200"/>
            <a:r>
              <a:rPr lang="en-IN" altLang="en-US" b="1">
                <a:solidFill>
                  <a:schemeClr val="bg1"/>
                </a:solidFill>
                <a:latin typeface="Times New Roman" panose="02020603050405020304" charset="0"/>
                <a:cs typeface="Times New Roman" panose="02020603050405020304" charset="0"/>
              </a:rPr>
              <a:t>PRESENTED BY:-</a:t>
            </a:r>
            <a:r>
              <a:rPr lang="en-IN" altLang="en-US">
                <a:solidFill>
                  <a:schemeClr val="bg1"/>
                </a:solidFill>
                <a:latin typeface="Times New Roman" panose="02020603050405020304" charset="0"/>
                <a:cs typeface="Times New Roman" panose="02020603050405020304" charset="0"/>
              </a:rPr>
              <a:t> ANSHIKA GOYAL</a:t>
            </a:r>
            <a:endParaRPr lang="en-IN" altLang="en-US">
              <a:solidFill>
                <a:schemeClr val="bg1"/>
              </a:solidFill>
              <a:latin typeface="Times New Roman" panose="02020603050405020304" charset="0"/>
              <a:cs typeface="Times New Roman" panose="02020603050405020304" charset="0"/>
            </a:endParaRPr>
          </a:p>
          <a:p>
            <a:pPr indent="457200"/>
            <a:r>
              <a:rPr lang="en-IN" altLang="en-US" b="1">
                <a:solidFill>
                  <a:schemeClr val="bg1"/>
                </a:solidFill>
                <a:latin typeface="Times New Roman" panose="02020603050405020304" charset="0"/>
                <a:cs typeface="Times New Roman" panose="02020603050405020304" charset="0"/>
              </a:rPr>
              <a:t>DATE:- 30-NOVEMBER-2025</a:t>
            </a:r>
            <a:endParaRPr lang="en-IN" altLang="en-US" b="1">
              <a:solidFill>
                <a:schemeClr val="bg1"/>
              </a:solidFill>
              <a:latin typeface="Times New Roman" panose="02020603050405020304" charset="0"/>
              <a:cs typeface="Times New Roman" panose="02020603050405020304" charset="0"/>
            </a:endParaRPr>
          </a:p>
        </p:txBody>
      </p:sp>
      <p:pic>
        <p:nvPicPr>
          <p:cNvPr id="11" name="Picture 10"/>
          <p:cNvPicPr/>
          <p:nvPr/>
        </p:nvPicPr>
        <p:blipFill>
          <a:blip r:embed="rId2"/>
          <a:stretch>
            <a:fillRect/>
          </a:stretch>
        </p:blipFill>
        <p:spPr>
          <a:xfrm>
            <a:off x="9305925" y="2727325"/>
            <a:ext cx="1579245" cy="1350645"/>
          </a:xfrm>
          <a:prstGeom prst="rect">
            <a:avLst/>
          </a:prstGeom>
        </p:spPr>
      </p:pic>
      <p:sp>
        <p:nvSpPr>
          <p:cNvPr id="12" name="Text Box 11"/>
          <p:cNvSpPr txBox="1"/>
          <p:nvPr/>
        </p:nvSpPr>
        <p:spPr>
          <a:xfrm>
            <a:off x="3318510" y="4783455"/>
            <a:ext cx="4260850" cy="368300"/>
          </a:xfrm>
          <a:prstGeom prst="rect">
            <a:avLst/>
          </a:prstGeom>
          <a:noFill/>
        </p:spPr>
        <p:txBody>
          <a:bodyPr wrap="square" rtlCol="0">
            <a:spAutoFit/>
          </a:bodyPr>
          <a:p>
            <a:r>
              <a:rPr lang="en-IN" altLang="en-US" b="1">
                <a:solidFill>
                  <a:schemeClr val="bg1"/>
                </a:solidFill>
                <a:latin typeface="Footlight MT Light" panose="0204060206030A020304" charset="0"/>
                <a:cs typeface="Footlight MT Light" panose="0204060206030A020304" charset="0"/>
              </a:rPr>
              <a:t>“SALES PERFORMANCE ANALYSIS”</a:t>
            </a:r>
            <a:endParaRPr lang="en-IN" altLang="en-US" b="1">
              <a:solidFill>
                <a:schemeClr val="bg1"/>
              </a:solidFill>
              <a:latin typeface="Footlight MT Light" panose="0204060206030A020304" charset="0"/>
              <a:cs typeface="Footlight MT Light" panose="0204060206030A020304" charset="0"/>
            </a:endParaRPr>
          </a:p>
        </p:txBody>
      </p:sp>
      <p:cxnSp>
        <p:nvCxnSpPr>
          <p:cNvPr id="13" name="Straight Connector 12"/>
          <p:cNvCxnSpPr/>
          <p:nvPr/>
        </p:nvCxnSpPr>
        <p:spPr>
          <a:xfrm>
            <a:off x="2834640" y="4787265"/>
            <a:ext cx="5795010" cy="15875"/>
          </a:xfrm>
          <a:prstGeom prst="line">
            <a:avLst/>
          </a:prstGeom>
          <a:ln>
            <a:solidFill>
              <a:schemeClr val="bg1"/>
            </a:solidFill>
          </a:ln>
        </p:spPr>
        <p:style>
          <a:lnRef idx="3">
            <a:schemeClr val="accent1"/>
          </a:lnRef>
          <a:fillRef idx="0">
            <a:srgbClr val="FFFFFF"/>
          </a:fillRef>
          <a:effectRef idx="0">
            <a:srgbClr val="FFFFFF"/>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191385" y="210820"/>
            <a:ext cx="7681595" cy="685800"/>
          </a:xfrm>
        </p:spPr>
        <p:txBody>
          <a:bodyPr>
            <a:normAutofit/>
          </a:bodyPr>
          <a:p>
            <a:r>
              <a:rPr lang="en-IN" altLang="en-US" sz="2665">
                <a:latin typeface="Times New Roman" panose="02020603050405020304" charset="0"/>
                <a:cs typeface="Times New Roman" panose="02020603050405020304" charset="0"/>
              </a:rPr>
              <a:t>PROJECT OVERVIEW AND BUSINESS PROBLEM</a:t>
            </a:r>
            <a:endParaRPr lang="en-IN" altLang="en-US" sz="2665">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774065" y="1003935"/>
            <a:ext cx="10515600" cy="5510530"/>
          </a:xfrm>
        </p:spPr>
        <p:txBody>
          <a:bodyPr>
            <a:normAutofit lnSpcReduction="20000"/>
          </a:bodyPr>
          <a:p>
            <a:endParaRPr lang="en-US" altLang="en-US" sz="1800"/>
          </a:p>
          <a:p>
            <a:r>
              <a:rPr lang="en-US" altLang="en-US" sz="1800"/>
              <a:t>Fashion_Wave is a retail clothing brand experiencing fluctuating sales performance across weekdays and weekends. Management wants to improve overall revenue and profit margins by understanding customer buying patterns.</a:t>
            </a:r>
            <a:endParaRPr lang="en-US" altLang="en-US" sz="1800"/>
          </a:p>
          <a:p>
            <a:endParaRPr lang="en-US" altLang="en-US" sz="1800"/>
          </a:p>
          <a:p>
            <a:endParaRPr lang="en-US" altLang="en-US" sz="1800"/>
          </a:p>
          <a:p>
            <a:r>
              <a:rPr lang="en-US" altLang="en-US" sz="1800"/>
              <a:t>Weekend sales are lower compared to weekday sales, which affects revenue potential. The business has set a target to increase weekend sales by 15%, but the factors impacting performance are unclear.</a:t>
            </a:r>
            <a:endParaRPr lang="en-US" altLang="en-US" sz="1800"/>
          </a:p>
          <a:p>
            <a:endParaRPr lang="en-US" altLang="en-US" sz="1800"/>
          </a:p>
          <a:p>
            <a:endParaRPr lang="en-US" altLang="en-US" sz="1800"/>
          </a:p>
          <a:p>
            <a:r>
              <a:rPr lang="en-US" altLang="en-US" sz="1800"/>
              <a:t>Compare weekend vs weekday sales performance</a:t>
            </a:r>
            <a:endParaRPr lang="en-US" altLang="en-US" sz="1800"/>
          </a:p>
          <a:p>
            <a:r>
              <a:rPr lang="en-US" altLang="en-US" sz="1800"/>
              <a:t>Identify high–performing product categories and underperforming stores</a:t>
            </a:r>
            <a:endParaRPr lang="en-US" altLang="en-US" sz="1800"/>
          </a:p>
          <a:p>
            <a:r>
              <a:rPr lang="en-US" altLang="en-US" sz="1800"/>
              <a:t>Analyze impact of discounts on profit</a:t>
            </a:r>
            <a:endParaRPr lang="en-US" altLang="en-US" sz="1800"/>
          </a:p>
          <a:p>
            <a:r>
              <a:rPr lang="en-US" altLang="en-US" sz="1800"/>
              <a:t>Generate data-driven insights &amp; growth recommendations</a:t>
            </a:r>
            <a:endParaRPr lang="en-US" altLang="en-US" sz="1800"/>
          </a:p>
          <a:p>
            <a:endParaRPr lang="en-US" altLang="en-US" sz="1800"/>
          </a:p>
          <a:p>
            <a:endParaRPr lang="en-US" altLang="en-US" sz="1800"/>
          </a:p>
          <a:p>
            <a:r>
              <a:rPr lang="en-US" altLang="en-US" sz="1800"/>
              <a:t>Use sales data to build a dashboard and recommend strategies to increase weekend revenue by at least 15%.</a:t>
            </a:r>
            <a:endParaRPr lang="en-US" altLang="en-US" sz="1800"/>
          </a:p>
        </p:txBody>
      </p:sp>
      <p:cxnSp>
        <p:nvCxnSpPr>
          <p:cNvPr id="4" name="Straight Connector 3"/>
          <p:cNvCxnSpPr/>
          <p:nvPr/>
        </p:nvCxnSpPr>
        <p:spPr>
          <a:xfrm>
            <a:off x="2260600" y="694690"/>
            <a:ext cx="7626985" cy="2095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sp>
        <p:nvSpPr>
          <p:cNvPr id="5" name="Text Box 4"/>
          <p:cNvSpPr txBox="1"/>
          <p:nvPr/>
        </p:nvSpPr>
        <p:spPr>
          <a:xfrm>
            <a:off x="942340" y="896620"/>
            <a:ext cx="3141345" cy="368300"/>
          </a:xfrm>
          <a:prstGeom prst="rect">
            <a:avLst/>
          </a:prstGeom>
          <a:noFill/>
        </p:spPr>
        <p:txBody>
          <a:bodyPr wrap="square" rtlCol="0">
            <a:spAutoFit/>
          </a:bodyPr>
          <a:p>
            <a:pPr algn="l"/>
            <a:r>
              <a:rPr lang="en-IN" altLang="en-US">
                <a:cs typeface="+mn-lt"/>
              </a:rPr>
              <a:t>BUSINESS CONTEXT</a:t>
            </a:r>
            <a:endParaRPr lang="en-IN" altLang="en-US">
              <a:cs typeface="+mn-lt"/>
            </a:endParaRPr>
          </a:p>
        </p:txBody>
      </p:sp>
      <p:sp>
        <p:nvSpPr>
          <p:cNvPr id="7" name="Text Box 6"/>
          <p:cNvSpPr txBox="1"/>
          <p:nvPr/>
        </p:nvSpPr>
        <p:spPr>
          <a:xfrm>
            <a:off x="942340" y="2222500"/>
            <a:ext cx="3318510" cy="368300"/>
          </a:xfrm>
          <a:prstGeom prst="rect">
            <a:avLst/>
          </a:prstGeom>
          <a:noFill/>
        </p:spPr>
        <p:txBody>
          <a:bodyPr wrap="square" rtlCol="0">
            <a:spAutoFit/>
          </a:bodyPr>
          <a:p>
            <a:r>
              <a:rPr lang="en-IN" altLang="en-US"/>
              <a:t>PROBLEM STATEMENT</a:t>
            </a:r>
            <a:endParaRPr lang="en-IN" altLang="en-US"/>
          </a:p>
        </p:txBody>
      </p:sp>
      <p:sp>
        <p:nvSpPr>
          <p:cNvPr id="8" name="Text Box 7"/>
          <p:cNvSpPr txBox="1"/>
          <p:nvPr/>
        </p:nvSpPr>
        <p:spPr>
          <a:xfrm>
            <a:off x="942340" y="3244850"/>
            <a:ext cx="2191385" cy="368300"/>
          </a:xfrm>
          <a:prstGeom prst="rect">
            <a:avLst/>
          </a:prstGeom>
          <a:noFill/>
        </p:spPr>
        <p:txBody>
          <a:bodyPr wrap="square" rtlCol="0">
            <a:spAutoFit/>
          </a:bodyPr>
          <a:p>
            <a:r>
              <a:rPr lang="en-IN" altLang="en-US"/>
              <a:t>OBJECTIVE</a:t>
            </a:r>
            <a:endParaRPr lang="en-IN" altLang="en-US"/>
          </a:p>
        </p:txBody>
      </p:sp>
      <p:sp>
        <p:nvSpPr>
          <p:cNvPr id="9" name="Text Box 8"/>
          <p:cNvSpPr txBox="1"/>
          <p:nvPr/>
        </p:nvSpPr>
        <p:spPr>
          <a:xfrm>
            <a:off x="942340" y="5130165"/>
            <a:ext cx="2191385" cy="368300"/>
          </a:xfrm>
          <a:prstGeom prst="rect">
            <a:avLst/>
          </a:prstGeom>
          <a:noFill/>
        </p:spPr>
        <p:txBody>
          <a:bodyPr wrap="square" rtlCol="0">
            <a:spAutoFit/>
          </a:bodyPr>
          <a:p>
            <a:r>
              <a:rPr lang="en-IN" altLang="en-US"/>
              <a:t>GOAL</a:t>
            </a:r>
            <a:endParaRPr lang="en-I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214630"/>
            <a:ext cx="10515600" cy="6348095"/>
          </a:xfrm>
        </p:spPr>
        <p:txBody>
          <a:bodyPr>
            <a:normAutofit lnSpcReduction="10000"/>
          </a:bodyPr>
          <a:p>
            <a:endParaRPr lang="en-US"/>
          </a:p>
          <a:p>
            <a:r>
              <a:rPr lang="en-US" altLang="en-US" sz="1800"/>
              <a:t>Exploratory Data Analysis (EDA) was performed to understand dataset structure, detect patterns, and prepare the data for insights and dashboard building. The dataset contains detailed transactional information including Product Category, Date, Quantity, Sales Amount, Discounts, Profit, Customer Type, and Payment Mode.</a:t>
            </a:r>
            <a:endParaRPr lang="en-US" altLang="en-US" sz="1800"/>
          </a:p>
          <a:p>
            <a:endParaRPr lang="en-US"/>
          </a:p>
          <a:p>
            <a:pPr>
              <a:lnSpc>
                <a:spcPct val="100000"/>
              </a:lnSpc>
            </a:pPr>
            <a:r>
              <a:rPr lang="en-US" altLang="en-US" sz="1800"/>
              <a:t>Reviewed dataset shape and column structure (InvoiceNo, Date, Category, Quantity, UnitPrice, Discount, Total Sales, Profit, etc.)</a:t>
            </a:r>
            <a:endParaRPr lang="en-US" altLang="en-US" sz="1800"/>
          </a:p>
          <a:p>
            <a:pPr>
              <a:lnSpc>
                <a:spcPct val="100000"/>
              </a:lnSpc>
            </a:pPr>
            <a:r>
              <a:rPr lang="en-US" altLang="en-US" sz="1800"/>
              <a:t>Converted date column into proper date format and extracted Month &amp; Weekday</a:t>
            </a:r>
            <a:endParaRPr lang="en-US" altLang="en-US" sz="1800"/>
          </a:p>
          <a:p>
            <a:pPr>
              <a:lnSpc>
                <a:spcPct val="100000"/>
              </a:lnSpc>
            </a:pPr>
            <a:r>
              <a:rPr lang="en-US" altLang="en-US" sz="1800"/>
              <a:t>Created Weekend Flag to compare Weekend vs Weekday performance</a:t>
            </a:r>
            <a:endParaRPr lang="en-US" altLang="en-US" sz="1800"/>
          </a:p>
          <a:p>
            <a:pPr>
              <a:lnSpc>
                <a:spcPct val="100000"/>
              </a:lnSpc>
            </a:pPr>
            <a:r>
              <a:rPr lang="en-US" altLang="en-US" sz="1800"/>
              <a:t>Calculated additional metrics including:</a:t>
            </a:r>
            <a:endParaRPr lang="en-US" altLang="en-US" sz="1800"/>
          </a:p>
          <a:p>
            <a:pPr>
              <a:lnSpc>
                <a:spcPct val="100000"/>
              </a:lnSpc>
            </a:pPr>
            <a:endParaRPr lang="en-US" altLang="en-US" sz="1800"/>
          </a:p>
          <a:p>
            <a:pPr lvl="2">
              <a:lnSpc>
                <a:spcPct val="40000"/>
              </a:lnSpc>
              <a:spcAft>
                <a:spcPts val="0"/>
              </a:spcAft>
            </a:pPr>
            <a:r>
              <a:rPr lang="en-US" altLang="en-US" sz="1800"/>
              <a:t>Total Sales</a:t>
            </a:r>
            <a:endParaRPr lang="en-US" altLang="en-US" sz="1800"/>
          </a:p>
          <a:p>
            <a:pPr lvl="2">
              <a:lnSpc>
                <a:spcPct val="40000"/>
              </a:lnSpc>
              <a:spcAft>
                <a:spcPts val="0"/>
              </a:spcAft>
            </a:pPr>
            <a:endParaRPr lang="en-US" altLang="en-US" sz="1800"/>
          </a:p>
          <a:p>
            <a:pPr lvl="2">
              <a:lnSpc>
                <a:spcPct val="40000"/>
              </a:lnSpc>
              <a:spcAft>
                <a:spcPts val="0"/>
              </a:spcAft>
            </a:pPr>
            <a:r>
              <a:rPr lang="en-US" altLang="en-US" sz="1800"/>
              <a:t>Average Order Value</a:t>
            </a:r>
            <a:endParaRPr lang="en-US" altLang="en-US" sz="1800"/>
          </a:p>
          <a:p>
            <a:pPr lvl="2">
              <a:lnSpc>
                <a:spcPct val="40000"/>
              </a:lnSpc>
              <a:spcAft>
                <a:spcPts val="0"/>
              </a:spcAft>
            </a:pPr>
            <a:endParaRPr lang="en-US" altLang="en-US" sz="1800"/>
          </a:p>
          <a:p>
            <a:pPr lvl="2">
              <a:lnSpc>
                <a:spcPct val="40000"/>
              </a:lnSpc>
              <a:spcAft>
                <a:spcPts val="0"/>
              </a:spcAft>
            </a:pPr>
            <a:r>
              <a:rPr lang="en-US" altLang="en-US" sz="1800"/>
              <a:t>Profit Margin</a:t>
            </a:r>
            <a:endParaRPr lang="en-US" altLang="en-US" sz="1800"/>
          </a:p>
          <a:p>
            <a:pPr lvl="2">
              <a:lnSpc>
                <a:spcPct val="40000"/>
              </a:lnSpc>
              <a:spcAft>
                <a:spcPts val="0"/>
              </a:spcAft>
            </a:pPr>
            <a:endParaRPr lang="en-US" altLang="en-US" sz="1800"/>
          </a:p>
          <a:p>
            <a:pPr lvl="2">
              <a:lnSpc>
                <a:spcPct val="40000"/>
              </a:lnSpc>
              <a:spcAft>
                <a:spcPts val="0"/>
              </a:spcAft>
            </a:pPr>
            <a:r>
              <a:rPr lang="en-US" altLang="en-US" sz="1800"/>
              <a:t>Discount Impact</a:t>
            </a:r>
            <a:endParaRPr lang="en-US" altLang="en-US" sz="1800"/>
          </a:p>
          <a:p>
            <a:pPr lvl="2">
              <a:lnSpc>
                <a:spcPct val="40000"/>
              </a:lnSpc>
              <a:spcAft>
                <a:spcPts val="0"/>
              </a:spcAft>
            </a:pPr>
            <a:endParaRPr lang="en-US" altLang="en-US" sz="1800"/>
          </a:p>
          <a:p>
            <a:pPr lvl="2">
              <a:lnSpc>
                <a:spcPct val="40000"/>
              </a:lnSpc>
              <a:spcAft>
                <a:spcPts val="0"/>
              </a:spcAft>
            </a:pPr>
            <a:endParaRPr lang="en-US" altLang="en-US" sz="1800"/>
          </a:p>
          <a:p>
            <a:r>
              <a:rPr lang="en-US" altLang="en-US" sz="1800"/>
              <a:t>Cleaned missing or incorrect values</a:t>
            </a:r>
            <a:endParaRPr lang="en-US" altLang="en-US" sz="1800"/>
          </a:p>
          <a:p>
            <a:r>
              <a:rPr lang="en-US" altLang="en-US" sz="1800"/>
              <a:t>Built pivot tables to analyze:</a:t>
            </a:r>
            <a:endParaRPr lang="en-US" altLang="en-US" sz="1800"/>
          </a:p>
        </p:txBody>
      </p:sp>
      <p:sp>
        <p:nvSpPr>
          <p:cNvPr id="4" name="Text Box 3"/>
          <p:cNvSpPr txBox="1"/>
          <p:nvPr/>
        </p:nvSpPr>
        <p:spPr>
          <a:xfrm>
            <a:off x="3423285" y="214630"/>
            <a:ext cx="5546090" cy="368300"/>
          </a:xfrm>
          <a:prstGeom prst="rect">
            <a:avLst/>
          </a:prstGeom>
          <a:noFill/>
        </p:spPr>
        <p:txBody>
          <a:bodyPr wrap="square" rtlCol="0">
            <a:spAutoFit/>
          </a:bodyPr>
          <a:p>
            <a:r>
              <a:rPr lang="en-IN" altLang="en-US" b="1"/>
              <a:t>EXLPORATORY DATA ANALYSIS (EDA)</a:t>
            </a:r>
            <a:endParaRPr lang="en-IN" altLang="en-US" b="1"/>
          </a:p>
        </p:txBody>
      </p:sp>
      <p:sp>
        <p:nvSpPr>
          <p:cNvPr id="5" name="Text Box 4"/>
          <p:cNvSpPr txBox="1"/>
          <p:nvPr/>
        </p:nvSpPr>
        <p:spPr>
          <a:xfrm>
            <a:off x="905510" y="1755140"/>
            <a:ext cx="3376295" cy="368300"/>
          </a:xfrm>
          <a:prstGeom prst="rect">
            <a:avLst/>
          </a:prstGeom>
          <a:noFill/>
        </p:spPr>
        <p:txBody>
          <a:bodyPr wrap="square" rtlCol="0">
            <a:spAutoFit/>
          </a:bodyPr>
          <a:p>
            <a:r>
              <a:rPr lang="en-IN" altLang="en-US" b="1"/>
              <a:t>KEY EDA STEPS PERFORMED</a:t>
            </a:r>
            <a:endParaRPr lang="en-IN" altLang="en-US" b="1"/>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245745"/>
            <a:ext cx="10515600" cy="6326505"/>
          </a:xfrm>
        </p:spPr>
        <p:txBody>
          <a:bodyPr/>
          <a:p>
            <a:pPr lvl="2">
              <a:lnSpc>
                <a:spcPct val="40000"/>
              </a:lnSpc>
              <a:spcAft>
                <a:spcPts val="0"/>
              </a:spcAft>
            </a:pPr>
            <a:endParaRPr lang="en-US" altLang="en-US" sz="1800"/>
          </a:p>
          <a:p>
            <a:pPr lvl="2">
              <a:lnSpc>
                <a:spcPct val="40000"/>
              </a:lnSpc>
              <a:spcAft>
                <a:spcPts val="0"/>
              </a:spcAft>
            </a:pPr>
            <a:endParaRPr lang="en-US" altLang="en-US" sz="1800"/>
          </a:p>
          <a:p>
            <a:pPr lvl="2">
              <a:lnSpc>
                <a:spcPct val="40000"/>
              </a:lnSpc>
              <a:spcAft>
                <a:spcPts val="0"/>
              </a:spcAft>
            </a:pPr>
            <a:r>
              <a:rPr lang="en-US" altLang="en-US" sz="1800"/>
              <a:t>Sales by Category</a:t>
            </a:r>
            <a:endParaRPr lang="en-US" altLang="en-US" sz="1800"/>
          </a:p>
          <a:p>
            <a:pPr lvl="2">
              <a:lnSpc>
                <a:spcPct val="40000"/>
              </a:lnSpc>
              <a:spcAft>
                <a:spcPts val="0"/>
              </a:spcAft>
            </a:pPr>
            <a:endParaRPr lang="en-US" altLang="en-US" sz="1800"/>
          </a:p>
          <a:p>
            <a:pPr lvl="2">
              <a:lnSpc>
                <a:spcPct val="40000"/>
              </a:lnSpc>
              <a:spcAft>
                <a:spcPts val="0"/>
              </a:spcAft>
            </a:pPr>
            <a:r>
              <a:rPr lang="en-US" altLang="en-US" sz="1800"/>
              <a:t>Sales by Customer Type (New vs Returning)</a:t>
            </a:r>
            <a:endParaRPr lang="en-US" altLang="en-US" sz="1800"/>
          </a:p>
          <a:p>
            <a:pPr lvl="2">
              <a:lnSpc>
                <a:spcPct val="40000"/>
              </a:lnSpc>
              <a:spcAft>
                <a:spcPts val="0"/>
              </a:spcAft>
            </a:pPr>
            <a:endParaRPr lang="en-US" altLang="en-US" sz="1800"/>
          </a:p>
          <a:p>
            <a:pPr lvl="2">
              <a:lnSpc>
                <a:spcPct val="40000"/>
              </a:lnSpc>
              <a:spcAft>
                <a:spcPts val="0"/>
              </a:spcAft>
            </a:pPr>
            <a:r>
              <a:rPr lang="en-US" altLang="en-US" sz="1800"/>
              <a:t>Payment Mode contribution</a:t>
            </a:r>
            <a:endParaRPr lang="en-US" altLang="en-US" sz="1800"/>
          </a:p>
          <a:p>
            <a:pPr lvl="2">
              <a:lnSpc>
                <a:spcPct val="40000"/>
              </a:lnSpc>
              <a:spcAft>
                <a:spcPts val="0"/>
              </a:spcAft>
            </a:pPr>
            <a:endParaRPr lang="en-US" altLang="en-US" sz="1800"/>
          </a:p>
          <a:p>
            <a:pPr lvl="2">
              <a:lnSpc>
                <a:spcPct val="40000"/>
              </a:lnSpc>
              <a:spcAft>
                <a:spcPts val="0"/>
              </a:spcAft>
            </a:pPr>
            <a:r>
              <a:rPr lang="en-US" altLang="en-US" sz="1800"/>
              <a:t>Profit distribution</a:t>
            </a:r>
            <a:endParaRPr lang="en-US" altLang="en-US" sz="1800"/>
          </a:p>
          <a:p>
            <a:pPr lvl="2">
              <a:lnSpc>
                <a:spcPct val="40000"/>
              </a:lnSpc>
              <a:spcAft>
                <a:spcPts val="0"/>
              </a:spcAft>
            </a:pPr>
            <a:endParaRPr lang="en-US" altLang="en-US" sz="1800"/>
          </a:p>
          <a:p>
            <a:pPr lvl="2">
              <a:lnSpc>
                <a:spcPct val="40000"/>
              </a:lnSpc>
              <a:spcAft>
                <a:spcPts val="0"/>
              </a:spcAft>
            </a:pPr>
            <a:r>
              <a:rPr lang="en-US" altLang="en-US" sz="1800"/>
              <a:t>Weekend vs Weekday performance</a:t>
            </a:r>
            <a:endParaRPr lang="en-US" altLang="en-US" sz="1800"/>
          </a:p>
          <a:p>
            <a:pPr lvl="2">
              <a:lnSpc>
                <a:spcPct val="40000"/>
              </a:lnSpc>
              <a:spcAft>
                <a:spcPts val="0"/>
              </a:spcAft>
            </a:pPr>
            <a:endParaRPr lang="en-US" altLang="en-US" sz="1800"/>
          </a:p>
        </p:txBody>
      </p:sp>
      <p:sp>
        <p:nvSpPr>
          <p:cNvPr id="4" name="Text Box 3"/>
          <p:cNvSpPr txBox="1"/>
          <p:nvPr/>
        </p:nvSpPr>
        <p:spPr>
          <a:xfrm>
            <a:off x="688975" y="2266315"/>
            <a:ext cx="10564495" cy="4371340"/>
          </a:xfrm>
          <a:prstGeom prst="rect">
            <a:avLst/>
          </a:prstGeom>
          <a:noFill/>
        </p:spPr>
        <p:txBody>
          <a:bodyPr wrap="square" rtlCol="0">
            <a:noAutofit/>
          </a:bodyPr>
          <a:p>
            <a:r>
              <a:rPr lang="en-US" altLang="en-US"/>
              <a:t>To deeply understand sales behavior and identify meaningful patterns that support decision-making and answer business questions regarding:</a:t>
            </a:r>
            <a:endParaRPr lang="en-US" altLang="en-US"/>
          </a:p>
          <a:p>
            <a:endParaRPr lang="en-US" altLang="en-US"/>
          </a:p>
          <a:p>
            <a:pPr marL="285750" indent="-285750">
              <a:buFont typeface="Arial" panose="020B0604020202020204" pitchFamily="34" charset="0"/>
              <a:buChar char="•"/>
            </a:pPr>
            <a:r>
              <a:rPr lang="en-US" altLang="en-US"/>
              <a:t>Revenue and profit drivers</a:t>
            </a:r>
            <a:endParaRPr lang="en-US" altLang="en-US"/>
          </a:p>
          <a:p>
            <a:pPr marL="285750" indent="-285750">
              <a:buFont typeface="Arial" panose="020B0604020202020204" pitchFamily="34" charset="0"/>
              <a:buChar char="•"/>
            </a:pPr>
            <a:endParaRPr lang="en-US" altLang="en-US"/>
          </a:p>
          <a:p>
            <a:pPr marL="285750" indent="-285750">
              <a:buFont typeface="Arial" panose="020B0604020202020204" pitchFamily="34" charset="0"/>
              <a:buChar char="•"/>
            </a:pPr>
            <a:r>
              <a:rPr lang="en-US" altLang="en-US"/>
              <a:t>Seasonal and weekly trends</a:t>
            </a:r>
            <a:endParaRPr lang="en-US" altLang="en-US"/>
          </a:p>
          <a:p>
            <a:pPr marL="285750" indent="-285750">
              <a:buFont typeface="Arial" panose="020B0604020202020204" pitchFamily="34" charset="0"/>
              <a:buChar char="•"/>
            </a:pPr>
            <a:endParaRPr lang="en-US" altLang="en-US"/>
          </a:p>
          <a:p>
            <a:pPr marL="285750" indent="-285750">
              <a:buFont typeface="Arial" panose="020B0604020202020204" pitchFamily="34" charset="0"/>
              <a:buChar char="•"/>
            </a:pPr>
            <a:r>
              <a:rPr lang="en-US" altLang="en-US"/>
              <a:t>Customer buying behavior</a:t>
            </a:r>
            <a:endParaRPr lang="en-US" altLang="en-US"/>
          </a:p>
          <a:p>
            <a:pPr marL="285750" indent="-285750">
              <a:buFont typeface="Arial" panose="020B0604020202020204" pitchFamily="34" charset="0"/>
              <a:buChar char="•"/>
            </a:pPr>
            <a:endParaRPr lang="en-US" altLang="en-US"/>
          </a:p>
          <a:p>
            <a:pPr marL="285750" indent="-285750">
              <a:buFont typeface="Arial" panose="020B0604020202020204" pitchFamily="34" charset="0"/>
              <a:buChar char="•"/>
            </a:pPr>
            <a:r>
              <a:rPr lang="en-US" altLang="en-US"/>
              <a:t>Impact of discounting on profitability</a:t>
            </a:r>
            <a:r>
              <a:rPr lang="en-IN" altLang="en-US"/>
              <a:t>.</a:t>
            </a:r>
            <a:endParaRPr lang="en-US" altLang="en-US"/>
          </a:p>
          <a:p>
            <a:pPr marL="285750" indent="-285750">
              <a:buFont typeface="Arial" panose="020B0604020202020204" pitchFamily="34" charset="0"/>
              <a:buChar char="•"/>
            </a:pPr>
            <a:endParaRPr lang="en-US"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3596640" y="201930"/>
            <a:ext cx="3657600" cy="454660"/>
          </a:xfrm>
        </p:spPr>
        <p:txBody>
          <a:bodyPr/>
          <a:p>
            <a:r>
              <a:rPr lang="en-IN" altLang="en-US" sz="2000" b="1">
                <a:latin typeface="Calibri" panose="020F0502020204030204" charset="0"/>
                <a:cs typeface="Calibri" panose="020F0502020204030204" charset="0"/>
              </a:rPr>
              <a:t>INSIGHTS AND KEY FINDINGS</a:t>
            </a:r>
            <a:endParaRPr lang="en-IN" altLang="en-US" sz="2000" b="1">
              <a:latin typeface="Calibri" panose="020F0502020204030204" charset="0"/>
              <a:cs typeface="Calibri" panose="020F0502020204030204" charset="0"/>
            </a:endParaRPr>
          </a:p>
        </p:txBody>
      </p:sp>
      <p:sp>
        <p:nvSpPr>
          <p:cNvPr id="3" name="Content Placeholder 2"/>
          <p:cNvSpPr>
            <a:spLocks noGrp="1"/>
          </p:cNvSpPr>
          <p:nvPr>
            <p:ph idx="1"/>
          </p:nvPr>
        </p:nvSpPr>
        <p:spPr>
          <a:xfrm>
            <a:off x="838200" y="656590"/>
            <a:ext cx="10515600" cy="5520690"/>
          </a:xfrm>
        </p:spPr>
        <p:txBody>
          <a:bodyPr>
            <a:normAutofit lnSpcReduction="10000"/>
          </a:bodyPr>
          <a:p>
            <a:pPr marL="0" indent="0">
              <a:buNone/>
            </a:pPr>
            <a:r>
              <a:rPr lang="zh-CN" altLang="en-US" sz="1800"/>
              <a:t>🔍</a:t>
            </a:r>
            <a:r>
              <a:rPr lang="en-US" altLang="en-US" sz="1800"/>
              <a:t> Insights &amp; Key Findings</a:t>
            </a:r>
            <a:endParaRPr lang="en-US" altLang="en-US" sz="1800"/>
          </a:p>
          <a:p>
            <a:endParaRPr lang="en-US" altLang="en-US" sz="1800"/>
          </a:p>
          <a:p>
            <a:r>
              <a:rPr lang="en-US" altLang="en-US" sz="1800"/>
              <a:t>1. Weekend Sales Performance:</a:t>
            </a:r>
            <a:endParaRPr lang="en-US" altLang="en-US" sz="1800"/>
          </a:p>
          <a:p>
            <a:r>
              <a:rPr lang="en-US" altLang="en-US" sz="1800"/>
              <a:t>Weekend sales contribute significantly to overall revenue, but they are still lower compared to weekday sales. Increasing weekend-focused promotions can boost revenue growth.</a:t>
            </a:r>
            <a:endParaRPr lang="en-US" altLang="en-US" sz="1800"/>
          </a:p>
          <a:p>
            <a:endParaRPr lang="en-US" altLang="en-US" sz="1800"/>
          </a:p>
          <a:p>
            <a:r>
              <a:rPr lang="en-US" altLang="en-US" sz="1800"/>
              <a:t>2. Sales Trend Analysis:</a:t>
            </a:r>
            <a:endParaRPr lang="en-US" altLang="en-US" sz="1800"/>
          </a:p>
          <a:p>
            <a:r>
              <a:rPr lang="en-US" altLang="en-US" sz="1800"/>
              <a:t>The daily sales trend shows noticeable fluctuations, indicating potential demand variation based on day and customer traffic patterns. Peak days can be leveraged for targeted marketing.</a:t>
            </a:r>
            <a:endParaRPr lang="en-US" altLang="en-US" sz="1800"/>
          </a:p>
          <a:p>
            <a:endParaRPr lang="en-US" altLang="en-US" sz="1800"/>
          </a:p>
          <a:p>
            <a:r>
              <a:rPr lang="en-US" altLang="en-US" sz="1800"/>
              <a:t>3. High Sales Days:</a:t>
            </a:r>
            <a:endParaRPr lang="en-US" altLang="en-US" sz="1800"/>
          </a:p>
          <a:p>
            <a:r>
              <a:rPr lang="en-US" altLang="en-US" sz="1800"/>
              <a:t>Saturday and Sunday show higher customer engagement compared to mid-week. Focusing on weekend combos or discounts may help increase the conversion rate further.</a:t>
            </a:r>
            <a:endParaRPr lang="en-US" altLang="en-US" sz="1800"/>
          </a:p>
          <a:p>
            <a:endParaRPr lang="en-US" altLang="en-US" sz="1800"/>
          </a:p>
          <a:p>
            <a:r>
              <a:rPr lang="en-US" altLang="en-US" sz="1800"/>
              <a:t>4. Improvement Opportunity:</a:t>
            </a:r>
            <a:endParaRPr lang="en-US" altLang="en-US" sz="1800"/>
          </a:p>
          <a:p>
            <a:r>
              <a:rPr lang="en-US" altLang="en-US" sz="1800"/>
              <a:t>There is a strategic opportunity to increase weekend sales by at least 15%, which can generate considerable revenue growth if implemented through offers, bundling, or social media campaigns.</a:t>
            </a:r>
            <a:endParaRPr lang="en-US" altLang="en-US" sz="1800"/>
          </a:p>
          <a:p>
            <a:endParaRPr lang="en-US" altLang="en-US" sz="18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3712845" y="290195"/>
            <a:ext cx="4517390" cy="542925"/>
          </a:xfrm>
        </p:spPr>
        <p:txBody>
          <a:bodyPr>
            <a:normAutofit/>
          </a:bodyPr>
          <a:p>
            <a:r>
              <a:rPr lang="en-US" altLang="en-US" sz="2220" b="1"/>
              <a:t>KPI Metrics &amp; Performance Summary</a:t>
            </a:r>
            <a:endParaRPr lang="en-IN" altLang="en-US" sz="2220" b="1"/>
          </a:p>
        </p:txBody>
      </p:sp>
      <p:sp>
        <p:nvSpPr>
          <p:cNvPr id="3" name="Content Placeholder 2"/>
          <p:cNvSpPr>
            <a:spLocks noGrp="1"/>
          </p:cNvSpPr>
          <p:nvPr>
            <p:ph idx="1"/>
          </p:nvPr>
        </p:nvSpPr>
        <p:spPr>
          <a:xfrm>
            <a:off x="838200" y="978535"/>
            <a:ext cx="10515600" cy="5113020"/>
          </a:xfrm>
        </p:spPr>
        <p:txBody>
          <a:bodyPr/>
          <a:p>
            <a:pPr marL="0" indent="0">
              <a:buNone/>
            </a:pPr>
            <a:r>
              <a:rPr lang="en-US" altLang="en-US" sz="1800"/>
              <a:t>• Total Revenue: ₹ </a:t>
            </a:r>
            <a:r>
              <a:rPr lang="en-IN" altLang="en-US" sz="1800"/>
              <a:t>30,012.57</a:t>
            </a:r>
            <a:endParaRPr lang="en-US" altLang="en-US" sz="1800"/>
          </a:p>
          <a:p>
            <a:pPr marL="0" indent="0">
              <a:buNone/>
            </a:pPr>
            <a:r>
              <a:rPr lang="en-US" altLang="en-US" sz="1800"/>
              <a:t>• Total Orders / Transactions: </a:t>
            </a:r>
            <a:r>
              <a:rPr lang="en-IN" altLang="en-US" sz="1800"/>
              <a:t>15,000</a:t>
            </a:r>
            <a:endParaRPr lang="en-US" altLang="en-US" sz="1800"/>
          </a:p>
          <a:p>
            <a:pPr marL="0" indent="0">
              <a:buNone/>
            </a:pPr>
            <a:r>
              <a:rPr lang="en-US" altLang="en-US" sz="1800"/>
              <a:t>• Average Order Value (AOV): ₹ </a:t>
            </a:r>
            <a:r>
              <a:rPr lang="en-IN" altLang="en-US" sz="1800"/>
              <a:t>14,155.93</a:t>
            </a:r>
            <a:endParaRPr lang="en-US" altLang="en-US" sz="1800"/>
          </a:p>
          <a:p>
            <a:pPr marL="0" indent="0">
              <a:buNone/>
            </a:pPr>
            <a:r>
              <a:rPr lang="en-US" altLang="en-US" sz="1800"/>
              <a:t>• Total Quantity Sold:</a:t>
            </a:r>
            <a:r>
              <a:rPr lang="en-IN" altLang="en-US" sz="1800"/>
              <a:t> 51,975</a:t>
            </a:r>
            <a:endParaRPr lang="en-US" altLang="en-US" sz="1800"/>
          </a:p>
          <a:p>
            <a:pPr marL="0" indent="0">
              <a:buNone/>
            </a:pPr>
            <a:r>
              <a:rPr lang="en-US" altLang="en-US" sz="1800"/>
              <a:t>• Weekend Sales % of Total: </a:t>
            </a:r>
            <a:r>
              <a:rPr lang="en-IN" altLang="en-US" sz="1800"/>
              <a:t>28.26</a:t>
            </a:r>
            <a:r>
              <a:rPr lang="en-US" altLang="en-US" sz="1800"/>
              <a:t>%</a:t>
            </a:r>
            <a:endParaRPr lang="en-US" altLang="en-US" sz="1800"/>
          </a:p>
          <a:p>
            <a:pPr marL="0" indent="0">
              <a:buNone/>
            </a:pPr>
            <a:r>
              <a:rPr lang="en-US" altLang="en-US" sz="1800"/>
              <a:t>• Highest Selling Category: </a:t>
            </a:r>
            <a:r>
              <a:rPr lang="en-IN" altLang="en-US" sz="1800"/>
              <a:t>Accessories</a:t>
            </a:r>
            <a:endParaRPr lang="en-US" altLang="en-US" sz="1800"/>
          </a:p>
          <a:p>
            <a:pPr marL="0" indent="0">
              <a:buNone/>
            </a:pPr>
            <a:r>
              <a:rPr lang="en-US" altLang="en-US" sz="1800"/>
              <a:t>• Lowest Selling Category: </a:t>
            </a:r>
            <a:r>
              <a:rPr lang="en-IN" altLang="en-US" sz="1800"/>
              <a:t>clothing</a:t>
            </a:r>
            <a:endParaRPr lang="en-US" altLang="en-US" sz="1800"/>
          </a:p>
          <a:p>
            <a:pPr marL="0" indent="0">
              <a:buNone/>
            </a:pPr>
            <a:r>
              <a:rPr lang="en-US" altLang="en-US" sz="1800"/>
              <a:t>• Highest Sales Day: </a:t>
            </a:r>
            <a:r>
              <a:rPr lang="en-IN" altLang="en-US" sz="1800"/>
              <a:t>4/12/2023</a:t>
            </a:r>
            <a:endParaRPr lang="en-US" altLang="en-US" sz="1800"/>
          </a:p>
          <a:p>
            <a:pPr marL="0" indent="0">
              <a:buNone/>
            </a:pPr>
            <a:r>
              <a:rPr lang="en-US" altLang="en-US" sz="1800"/>
              <a:t>• Lowest Sales Day: </a:t>
            </a:r>
            <a:r>
              <a:rPr lang="en-IN" altLang="en-US" sz="1800"/>
              <a:t>12/17/2023</a:t>
            </a:r>
            <a:endParaRPr lang="en-US" altLang="en-US" sz="1800"/>
          </a:p>
          <a:p>
            <a:pPr marL="0" indent="0">
              <a:buNone/>
            </a:pPr>
            <a:endParaRPr lang="en-US" altLang="en-US" sz="1800"/>
          </a:p>
          <a:p>
            <a:pPr marL="0" indent="0">
              <a:buNone/>
            </a:pPr>
            <a:r>
              <a:rPr lang="en-US" altLang="en-US" sz="1800"/>
              <a:t>✨ Interpretation:</a:t>
            </a:r>
            <a:endParaRPr lang="en-US" altLang="en-US" sz="1800"/>
          </a:p>
          <a:p>
            <a:pPr marL="0" indent="0">
              <a:buNone/>
            </a:pPr>
            <a:r>
              <a:rPr lang="en-US" altLang="en-US" sz="1800"/>
              <a:t>These KPIs provide a clear summary of overall business performance, helping identify high-performing categories, sales patterns by days, and areas that require improvement.</a:t>
            </a:r>
            <a:endParaRPr lang="en-US" altLang="en-US" sz="1800"/>
          </a:p>
          <a:p>
            <a:pPr marL="0" indent="0">
              <a:buNone/>
            </a:pPr>
            <a:endParaRPr lang="en-US" altLang="en-US" sz="18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510790" y="125095"/>
            <a:ext cx="7170420" cy="719455"/>
          </a:xfrm>
        </p:spPr>
        <p:txBody>
          <a:bodyPr>
            <a:normAutofit/>
          </a:bodyPr>
          <a:p>
            <a:r>
              <a:rPr lang="en-IN" altLang="en-US" sz="2800">
                <a:latin typeface="Times New Roman" panose="02020603050405020304" charset="0"/>
                <a:cs typeface="Times New Roman" panose="02020603050405020304" charset="0"/>
              </a:rPr>
              <a:t>VISUALIZATION &amp; DASHBOARD</a:t>
            </a:r>
            <a:endParaRPr lang="en-IN" altLang="en-US" sz="2800">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838200" y="844550"/>
            <a:ext cx="10515600" cy="5615305"/>
          </a:xfrm>
        </p:spPr>
        <p:txBody>
          <a:bodyPr>
            <a:normAutofit lnSpcReduction="10000"/>
          </a:bodyPr>
          <a:p>
            <a:pPr marL="0" indent="0">
              <a:buNone/>
            </a:pPr>
            <a:r>
              <a:rPr lang="en-US" altLang="en-US" sz="1800"/>
              <a:t>To support the KPI findings, multiple visual analytics charts were created in Google Sheets to better understand sales performance patterns and key business insights. These charts helped transform numerical data into easily interpretable insights for decision-making.</a:t>
            </a:r>
            <a:endParaRPr lang="en-US" altLang="en-US" sz="1800"/>
          </a:p>
          <a:p>
            <a:pPr marL="0" indent="0">
              <a:buNone/>
            </a:pPr>
            <a:endParaRPr lang="en-US" altLang="en-US" sz="1800"/>
          </a:p>
          <a:p>
            <a:pPr marL="0" indent="0">
              <a:buNone/>
            </a:pPr>
            <a:endParaRPr lang="en-US" altLang="en-US" sz="1800"/>
          </a:p>
          <a:p>
            <a:pPr marL="0" indent="0">
              <a:buNone/>
            </a:pPr>
            <a:r>
              <a:rPr lang="en-US" altLang="en-US" sz="1800"/>
              <a:t>A column chart was created to compare sales across weekend and weekday dates.</a:t>
            </a:r>
            <a:endParaRPr lang="en-US" altLang="en-US" sz="1800"/>
          </a:p>
          <a:p>
            <a:pPr marL="0" indent="0">
              <a:buNone/>
            </a:pPr>
            <a:r>
              <a:rPr lang="en-US" altLang="en-US" sz="1800"/>
              <a:t>Insight:</a:t>
            </a:r>
            <a:endParaRPr lang="en-US" altLang="en-US" sz="1800"/>
          </a:p>
          <a:p>
            <a:pPr marL="0" indent="0">
              <a:buNone/>
            </a:pPr>
            <a:r>
              <a:rPr lang="en-US" altLang="en-US" sz="1800"/>
              <a:t>Weekday sales consistently outperform weekend sales. However, significant spikes occur on certain weekend dates, indicating promotional or seasonal impact. Saturday contributes the highest weekend revenue.</a:t>
            </a:r>
            <a:endParaRPr lang="en-US" altLang="en-US" sz="1800"/>
          </a:p>
          <a:p>
            <a:pPr marL="0" indent="0">
              <a:buNone/>
            </a:pPr>
            <a:endParaRPr lang="en-US" altLang="en-US" sz="1800"/>
          </a:p>
          <a:p>
            <a:pPr marL="0" indent="0">
              <a:buNone/>
            </a:pPr>
            <a:endParaRPr lang="en-US" altLang="en-US" sz="1800"/>
          </a:p>
          <a:p>
            <a:pPr marL="0" indent="0">
              <a:buNone/>
            </a:pPr>
            <a:endParaRPr lang="en-US" altLang="en-US" sz="1800"/>
          </a:p>
          <a:p>
            <a:pPr marL="0" indent="0">
              <a:buNone/>
            </a:pPr>
            <a:r>
              <a:rPr lang="en-US" altLang="en-US" sz="1800"/>
              <a:t>A line trend chart was developed to track sales patterns over time.</a:t>
            </a:r>
            <a:endParaRPr lang="en-US" altLang="en-US" sz="1800"/>
          </a:p>
          <a:p>
            <a:pPr marL="0" indent="0">
              <a:buNone/>
            </a:pPr>
            <a:r>
              <a:rPr lang="en-US" altLang="en-US" sz="1800"/>
              <a:t>Insight:</a:t>
            </a:r>
            <a:endParaRPr lang="en-US" altLang="en-US" sz="1800"/>
          </a:p>
          <a:p>
            <a:pPr marL="0" indent="0">
              <a:buNone/>
            </a:pPr>
            <a:r>
              <a:rPr lang="en-US" altLang="en-US" sz="1800"/>
              <a:t>Sales show a repeating cyclic pattern where weekday sales peak followed by weekend drops. This trend suggests stronger regular sales during working days and potential opportunity for boosting marketing campaigns on weekends.</a:t>
            </a:r>
            <a:endParaRPr lang="en-US" altLang="en-US" sz="1800"/>
          </a:p>
        </p:txBody>
      </p:sp>
      <p:sp>
        <p:nvSpPr>
          <p:cNvPr id="4" name="Text Box 3"/>
          <p:cNvSpPr txBox="1"/>
          <p:nvPr/>
        </p:nvSpPr>
        <p:spPr>
          <a:xfrm>
            <a:off x="838200" y="1926590"/>
            <a:ext cx="5635625" cy="368300"/>
          </a:xfrm>
          <a:prstGeom prst="rect">
            <a:avLst/>
          </a:prstGeom>
          <a:noFill/>
        </p:spPr>
        <p:txBody>
          <a:bodyPr wrap="square" rtlCol="0">
            <a:spAutoFit/>
          </a:bodyPr>
          <a:p>
            <a:pPr marL="285750" indent="-285750">
              <a:buFont typeface="Arial" panose="020B0604020202020204" pitchFamily="34" charset="0"/>
              <a:buChar char="•"/>
            </a:pPr>
            <a:r>
              <a:rPr lang="en-IN" altLang="en-US" b="1"/>
              <a:t>DAILY SALES COMPARISON- WEEKEND VS WEEKDAY</a:t>
            </a:r>
            <a:endParaRPr lang="en-IN" altLang="en-US" b="1"/>
          </a:p>
        </p:txBody>
      </p:sp>
      <p:sp>
        <p:nvSpPr>
          <p:cNvPr id="5" name="Text Box 4"/>
          <p:cNvSpPr txBox="1"/>
          <p:nvPr/>
        </p:nvSpPr>
        <p:spPr>
          <a:xfrm>
            <a:off x="901700" y="3959225"/>
            <a:ext cx="5351145" cy="368300"/>
          </a:xfrm>
          <a:prstGeom prst="rect">
            <a:avLst/>
          </a:prstGeom>
          <a:noFill/>
        </p:spPr>
        <p:txBody>
          <a:bodyPr wrap="square" rtlCol="0">
            <a:spAutoFit/>
          </a:bodyPr>
          <a:p>
            <a:pPr marL="285750" indent="-285750">
              <a:buFont typeface="Arial" panose="020B0604020202020204" pitchFamily="34" charset="0"/>
              <a:buChar char="•"/>
            </a:pPr>
            <a:r>
              <a:rPr lang="en-IN" altLang="en-US" b="1"/>
              <a:t>WEEKEND VS WEEKDAY SALES TREND</a:t>
            </a:r>
            <a:endParaRPr lang="en-IN" altLang="en-US" b="1"/>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394335"/>
            <a:ext cx="10515600" cy="6190615"/>
          </a:xfrm>
        </p:spPr>
        <p:txBody>
          <a:bodyPr>
            <a:normAutofit lnSpcReduction="10000"/>
          </a:bodyPr>
          <a:p>
            <a:endParaRPr lang="en-US" sz="1800"/>
          </a:p>
          <a:p>
            <a:endParaRPr lang="en-US" altLang="en-US" sz="1800"/>
          </a:p>
          <a:p>
            <a:pPr marL="0" indent="0">
              <a:buNone/>
            </a:pPr>
            <a:r>
              <a:rPr lang="en-US" altLang="en-US" sz="1800"/>
              <a:t>A bar chart visualizes sales distribution across product categories.</a:t>
            </a:r>
            <a:endParaRPr lang="en-US" altLang="en-US" sz="1800"/>
          </a:p>
          <a:p>
            <a:pPr marL="0" indent="0">
              <a:buNone/>
            </a:pPr>
            <a:r>
              <a:rPr lang="en-US" altLang="en-US" sz="1800"/>
              <a:t>Insight:</a:t>
            </a:r>
            <a:endParaRPr lang="en-US" altLang="en-US" sz="1800"/>
          </a:p>
          <a:p>
            <a:pPr marL="0" indent="0">
              <a:buNone/>
            </a:pPr>
            <a:r>
              <a:rPr lang="en-US" altLang="en-US" sz="1800"/>
              <a:t>Accessories generate the highest sales contribution, followed by Clothing and Shoes. This helps identify profitable product focus areas.</a:t>
            </a:r>
            <a:endParaRPr lang="en-US" altLang="en-US" sz="1800"/>
          </a:p>
          <a:p>
            <a:pPr marL="0" indent="0">
              <a:buNone/>
            </a:pPr>
            <a:endParaRPr lang="en-US" altLang="en-US" sz="1800"/>
          </a:p>
          <a:p>
            <a:pPr marL="0" indent="0">
              <a:buNone/>
            </a:pPr>
            <a:endParaRPr lang="en-US" altLang="en-US" sz="1800"/>
          </a:p>
          <a:p>
            <a:pPr marL="0" indent="0">
              <a:buNone/>
            </a:pPr>
            <a:r>
              <a:rPr lang="en-US" altLang="en-US" sz="1800"/>
              <a:t>A pie chart was created to show category-wise percentage contribution to total revenue.</a:t>
            </a:r>
            <a:endParaRPr lang="en-US" altLang="en-US" sz="1800"/>
          </a:p>
          <a:p>
            <a:pPr marL="0" indent="0">
              <a:buNone/>
            </a:pPr>
            <a:r>
              <a:rPr lang="en-US" altLang="en-US" sz="1800"/>
              <a:t>Insight:</a:t>
            </a:r>
            <a:endParaRPr lang="en-US" altLang="en-US" sz="1800"/>
          </a:p>
          <a:p>
            <a:pPr marL="0" indent="0">
              <a:buNone/>
            </a:pPr>
            <a:r>
              <a:rPr lang="en-US" altLang="en-US" sz="1800"/>
              <a:t>Accessories contribute approximately 42.8% of total revenue, indicating strong product performance and high customer demand.</a:t>
            </a:r>
            <a:endParaRPr lang="en-US" altLang="en-US" sz="1800"/>
          </a:p>
          <a:p>
            <a:pPr marL="0" indent="0">
              <a:buNone/>
            </a:pPr>
            <a:endParaRPr lang="en-US" altLang="en-US" sz="1800"/>
          </a:p>
          <a:p>
            <a:pPr marL="0" indent="0">
              <a:buNone/>
            </a:pPr>
            <a:endParaRPr lang="en-US" altLang="en-US" sz="1800"/>
          </a:p>
          <a:p>
            <a:pPr marL="0" indent="0">
              <a:buNone/>
            </a:pPr>
            <a:r>
              <a:rPr lang="en-US" altLang="en-US" sz="1800"/>
              <a:t>A comparison bar chart was generated to analyze overall revenue contribution.</a:t>
            </a:r>
            <a:endParaRPr lang="en-US" altLang="en-US" sz="1800"/>
          </a:p>
          <a:p>
            <a:pPr marL="0" indent="0">
              <a:buNone/>
            </a:pPr>
            <a:r>
              <a:rPr lang="en-US" altLang="en-US" sz="1800"/>
              <a:t>Insight:</a:t>
            </a:r>
            <a:endParaRPr lang="en-US" altLang="en-US" sz="1800"/>
          </a:p>
          <a:p>
            <a:pPr marL="0" indent="0">
              <a:buNone/>
            </a:pPr>
            <a:r>
              <a:rPr lang="en-US" altLang="en-US" sz="1800"/>
              <a:t>Weekdays account for the highest overall revenue while weekends contribute approximately 28.26% of total sales, which is below the expected target of 32.5%. This indicates an opportunity to implement weekend discount strategies.</a:t>
            </a:r>
            <a:endParaRPr lang="en-US" altLang="en-US" sz="1800"/>
          </a:p>
          <a:p>
            <a:pPr marL="0" indent="0">
              <a:buNone/>
            </a:pPr>
            <a:endParaRPr lang="en-US" altLang="en-US" sz="1800"/>
          </a:p>
        </p:txBody>
      </p:sp>
      <p:sp>
        <p:nvSpPr>
          <p:cNvPr id="4" name="Text Box 3"/>
          <p:cNvSpPr txBox="1"/>
          <p:nvPr/>
        </p:nvSpPr>
        <p:spPr>
          <a:xfrm>
            <a:off x="838200" y="483870"/>
            <a:ext cx="3486785" cy="368300"/>
          </a:xfrm>
          <a:prstGeom prst="rect">
            <a:avLst/>
          </a:prstGeom>
          <a:noFill/>
        </p:spPr>
        <p:txBody>
          <a:bodyPr wrap="square" rtlCol="0">
            <a:spAutoFit/>
          </a:bodyPr>
          <a:p>
            <a:pPr marL="285750" indent="-285750">
              <a:buFont typeface="Arial" panose="020B0604020202020204" pitchFamily="34" charset="0"/>
              <a:buChar char="•"/>
            </a:pPr>
            <a:r>
              <a:rPr lang="en-IN" altLang="en-US" b="1"/>
              <a:t>SALES BY PRODUCT CATEGORY</a:t>
            </a:r>
            <a:endParaRPr lang="en-IN" altLang="en-US" b="1"/>
          </a:p>
        </p:txBody>
      </p:sp>
      <p:sp>
        <p:nvSpPr>
          <p:cNvPr id="6" name="Text Box 5"/>
          <p:cNvSpPr txBox="1"/>
          <p:nvPr/>
        </p:nvSpPr>
        <p:spPr>
          <a:xfrm>
            <a:off x="838200" y="2454275"/>
            <a:ext cx="5257800" cy="368300"/>
          </a:xfrm>
          <a:prstGeom prst="rect">
            <a:avLst/>
          </a:prstGeom>
          <a:noFill/>
        </p:spPr>
        <p:txBody>
          <a:bodyPr wrap="square" rtlCol="0">
            <a:spAutoFit/>
          </a:bodyPr>
          <a:p>
            <a:pPr marL="285750" indent="-285750">
              <a:buFont typeface="Arial" panose="020B0604020202020204" pitchFamily="34" charset="0"/>
              <a:buChar char="•"/>
            </a:pPr>
            <a:r>
              <a:rPr lang="en-IN" altLang="en-US" b="1"/>
              <a:t>PRODUCT CATEGORY REVENUE CONTRIBUTION</a:t>
            </a:r>
            <a:endParaRPr lang="en-IN" altLang="en-US" b="1"/>
          </a:p>
        </p:txBody>
      </p:sp>
      <p:sp>
        <p:nvSpPr>
          <p:cNvPr id="7" name="Text Box 6"/>
          <p:cNvSpPr txBox="1"/>
          <p:nvPr/>
        </p:nvSpPr>
        <p:spPr>
          <a:xfrm>
            <a:off x="838200" y="4394200"/>
            <a:ext cx="4055745" cy="368300"/>
          </a:xfrm>
          <a:prstGeom prst="rect">
            <a:avLst/>
          </a:prstGeom>
          <a:noFill/>
        </p:spPr>
        <p:txBody>
          <a:bodyPr wrap="square" rtlCol="0">
            <a:spAutoFit/>
          </a:bodyPr>
          <a:p>
            <a:pPr marL="285750" indent="-285750">
              <a:buFont typeface="Arial" panose="020B0604020202020204" pitchFamily="34" charset="0"/>
              <a:buChar char="•"/>
            </a:pPr>
            <a:r>
              <a:rPr lang="en-IN" altLang="en-US" b="1"/>
              <a:t>TOTAL WEEKEND VS WEEKDAY SALES</a:t>
            </a:r>
            <a:endParaRPr lang="en-IN" altLang="en-US" b="1"/>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Content Placeholder 5" descr="Screenshot (84)"/>
          <p:cNvPicPr>
            <a:picLocks noChangeAspect="1"/>
          </p:cNvPicPr>
          <p:nvPr>
            <p:ph idx="1"/>
          </p:nvPr>
        </p:nvPicPr>
        <p:blipFill>
          <a:blip r:embed="rId1"/>
          <a:stretch>
            <a:fillRect/>
          </a:stretch>
        </p:blipFill>
        <p:spPr>
          <a:xfrm>
            <a:off x="69850" y="-635"/>
            <a:ext cx="12122785" cy="679069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3153410" y="165100"/>
            <a:ext cx="5885180" cy="626110"/>
          </a:xfrm>
        </p:spPr>
        <p:txBody>
          <a:bodyPr>
            <a:normAutofit/>
          </a:bodyPr>
          <a:p>
            <a:r>
              <a:rPr lang="en-IN" altLang="en-US" sz="2665">
                <a:latin typeface="Times New Roman" panose="02020603050405020304" charset="0"/>
                <a:cs typeface="Times New Roman" panose="02020603050405020304" charset="0"/>
              </a:rPr>
              <a:t>RECOMMENDATIONS</a:t>
            </a:r>
            <a:endParaRPr lang="en-IN" altLang="en-US" sz="2665">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838200" y="791845"/>
            <a:ext cx="10515600" cy="5385435"/>
          </a:xfrm>
        </p:spPr>
        <p:txBody>
          <a:bodyPr/>
          <a:p>
            <a:r>
              <a:rPr lang="en-US" altLang="en-US" sz="1800"/>
              <a:t>Based on the sales performance insights and weekend/weekday comparison, the following actions are recommended:</a:t>
            </a:r>
            <a:endParaRPr lang="en-US" altLang="en-US" sz="1800"/>
          </a:p>
          <a:p>
            <a:endParaRPr lang="en-US" altLang="en-US" sz="1800"/>
          </a:p>
          <a:p>
            <a:pPr marL="0" indent="0">
              <a:buNone/>
            </a:pPr>
            <a:r>
              <a:rPr lang="zh-CN" altLang="en-US" sz="1800" b="1"/>
              <a:t>📌</a:t>
            </a:r>
            <a:r>
              <a:rPr lang="en-US" altLang="en-US" sz="1800" b="1"/>
              <a:t> Quick Win Strategies</a:t>
            </a:r>
            <a:endParaRPr lang="en-US" altLang="en-US" sz="1800"/>
          </a:p>
          <a:p>
            <a:r>
              <a:rPr lang="en-US" altLang="en-US" sz="1800"/>
              <a:t>Increase weekend discounts and promotional offers to improve weekend sales contribution (currently 28.26% vs target 32.5%).</a:t>
            </a:r>
            <a:endParaRPr lang="en-US" altLang="en-US" sz="1800"/>
          </a:p>
          <a:p>
            <a:r>
              <a:rPr lang="en-US" altLang="en-US" sz="1800"/>
              <a:t>Focus on Accessories, which are the highest-selling category, and introduce bundle offers.</a:t>
            </a:r>
            <a:endParaRPr lang="en-US" altLang="en-US" sz="1800"/>
          </a:p>
          <a:p>
            <a:r>
              <a:rPr lang="en-US" altLang="en-US" sz="1800"/>
              <a:t>Optimize stock and staffing on peak days identified from daily sales charts.</a:t>
            </a:r>
            <a:endParaRPr lang="en-US" altLang="en-US" sz="1800"/>
          </a:p>
          <a:p>
            <a:endParaRPr lang="en-US" altLang="en-US" sz="1800"/>
          </a:p>
          <a:p>
            <a:pPr marL="0" indent="0">
              <a:buNone/>
            </a:pPr>
            <a:r>
              <a:rPr lang="zh-CN" altLang="en-US" sz="1800" b="1"/>
              <a:t>📌</a:t>
            </a:r>
            <a:r>
              <a:rPr lang="en-US" altLang="en-US" sz="1800" b="1"/>
              <a:t> Long-Term Strategies</a:t>
            </a:r>
            <a:endParaRPr lang="en-US" altLang="en-US" sz="1800" b="1"/>
          </a:p>
          <a:p>
            <a:r>
              <a:rPr lang="en-US" altLang="en-US" sz="1800"/>
              <a:t>Improve performance of low-selling categories such as Clothing and Shoes through targeted marketing.</a:t>
            </a:r>
            <a:endParaRPr lang="en-US" altLang="en-US" sz="1800"/>
          </a:p>
          <a:p>
            <a:r>
              <a:rPr lang="en-US" altLang="en-US" sz="1800"/>
              <a:t>Implement customer segmentation to personalize offers for high-value repeat customers.</a:t>
            </a:r>
            <a:endParaRPr lang="en-US" altLang="en-US" sz="1800"/>
          </a:p>
          <a:p>
            <a:r>
              <a:rPr lang="en-US" altLang="en-US" sz="1800"/>
              <a:t>Analyze seasonal patterns to plan inventory and marketing budgets more efficiently.</a:t>
            </a:r>
            <a:endParaRPr lang="en-US" altLang="en-US" sz="18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802890" y="229235"/>
            <a:ext cx="6742430" cy="469900"/>
          </a:xfrm>
        </p:spPr>
        <p:txBody>
          <a:bodyPr>
            <a:normAutofit fontScale="90000"/>
          </a:bodyPr>
          <a:p>
            <a:r>
              <a:rPr lang="en-IN" altLang="en-US" sz="2665">
                <a:latin typeface="Times New Roman" panose="02020603050405020304" charset="0"/>
                <a:cs typeface="Times New Roman" panose="02020603050405020304" charset="0"/>
              </a:rPr>
              <a:t>CONCLUSIONS &amp; NEXT STEPS</a:t>
            </a:r>
            <a:endParaRPr lang="en-IN" altLang="en-US" sz="2665">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838200" y="699135"/>
            <a:ext cx="10515600" cy="5989320"/>
          </a:xfrm>
        </p:spPr>
        <p:txBody>
          <a:bodyPr>
            <a:normAutofit lnSpcReduction="20000"/>
          </a:bodyPr>
          <a:p>
            <a:r>
              <a:rPr lang="en-US" altLang="en-US" sz="1800"/>
              <a:t>The Fashion_Wave sales analysis provided clear insights into overall business performance, customer buying behavior, and revenue patterns across weekdays, weekends, and product categories. The dashboards and KPI metrics highlight that weekday sales are significantly stronger than weekend sales, with weekends contributing only 28.26% of revenue compared to the target of 32.5%. This indicates a strong opportunity to improve weekend performance through targeted marketing and discount campaigns.</a:t>
            </a:r>
            <a:endParaRPr lang="en-US" altLang="en-US" sz="1800"/>
          </a:p>
          <a:p>
            <a:endParaRPr lang="en-US" altLang="en-US" sz="1800"/>
          </a:p>
          <a:p>
            <a:r>
              <a:rPr lang="en-US" altLang="en-US" sz="1800"/>
              <a:t>The results also show that Accessories are the highest-selling product category, while Clothing and Shoes underperform, providing direction for inventory planning, pricing adjustments, and promotional focus. The visual trend charts further reveal consistent demand variation across different dates, helping guide operational and forecasting decisions.</a:t>
            </a:r>
            <a:endParaRPr lang="en-US" altLang="en-US" sz="1800"/>
          </a:p>
          <a:p>
            <a:r>
              <a:rPr lang="en-US" altLang="en-US" sz="1800"/>
              <a:t>Overall, the project demonstrates how data-driven analysis can convert raw data into actionable business recommendations and enable better decision-making supported by a clear, interactive dashboard.</a:t>
            </a:r>
            <a:endParaRPr lang="en-US" altLang="en-US" sz="1800"/>
          </a:p>
          <a:p>
            <a:endParaRPr lang="en-US" altLang="en-US" sz="1800" b="1"/>
          </a:p>
          <a:p>
            <a:pPr marL="0" indent="0">
              <a:buNone/>
            </a:pPr>
            <a:r>
              <a:rPr lang="en-IN" altLang="en-US" sz="1800" b="1"/>
              <a:t>     </a:t>
            </a:r>
            <a:r>
              <a:rPr lang="en-US" altLang="en-US" sz="1800" b="1"/>
              <a:t>Next Steps</a:t>
            </a:r>
            <a:r>
              <a:rPr lang="en-IN" altLang="en-US" sz="1800" b="1"/>
              <a:t>:</a:t>
            </a:r>
            <a:endParaRPr lang="en-US" altLang="en-US" sz="1800"/>
          </a:p>
          <a:p>
            <a:r>
              <a:rPr lang="en-US" altLang="en-US" sz="1800"/>
              <a:t>Launch weekend offers and promotions to increase weekend sales share.</a:t>
            </a:r>
            <a:endParaRPr lang="en-US" altLang="en-US" sz="1800"/>
          </a:p>
          <a:p>
            <a:r>
              <a:rPr lang="en-US" altLang="en-US" sz="1800"/>
              <a:t>Focus on high-performing products (Accessories) and improve weaker categories.</a:t>
            </a:r>
            <a:endParaRPr lang="en-US" altLang="en-US" sz="1800"/>
          </a:p>
          <a:p>
            <a:r>
              <a:rPr lang="en-US" altLang="en-US" sz="1800"/>
              <a:t>Apply customer segmentation to personalize marketing campaigns.</a:t>
            </a:r>
            <a:endParaRPr lang="en-US" altLang="en-US" sz="1800"/>
          </a:p>
          <a:p>
            <a:r>
              <a:rPr lang="en-US" altLang="en-US" sz="1800"/>
              <a:t>Continue updating the dashboard for regular performance tracking.</a:t>
            </a:r>
            <a:endParaRPr lang="en-US" altLang="en-US" sz="1800"/>
          </a:p>
          <a:p>
            <a:endParaRPr lang="en-US" altLang="en-US" sz="1800"/>
          </a:p>
          <a:p>
            <a:pPr marL="0" indent="0">
              <a:buNone/>
            </a:pPr>
            <a:r>
              <a:rPr lang="en-IN" altLang="en-US" sz="1800"/>
              <a:t>     </a:t>
            </a:r>
            <a:r>
              <a:rPr lang="en-US" altLang="en-US" sz="1800" b="1"/>
              <a:t>Final Outcome</a:t>
            </a:r>
            <a:endParaRPr lang="en-US" altLang="en-US" sz="1800"/>
          </a:p>
          <a:p>
            <a:pPr marL="0" indent="0">
              <a:buNone/>
            </a:pPr>
            <a:r>
              <a:rPr lang="en-US" altLang="en-US" sz="1800"/>
              <a:t>The analysis successfully identifies opportunities to improve sales growth and enable strategic planning, setting a strong foundation for future business optimization.</a:t>
            </a:r>
            <a:endParaRPr lang="en-US" altLang="en-US" sz="1800"/>
          </a:p>
          <a:p>
            <a:endParaRPr lang="en-US" altLang="en-US" sz="18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7644</Words>
  <Application>WPS Presentation</Application>
  <PresentationFormat>Widescreen</PresentationFormat>
  <Paragraphs>186</Paragraphs>
  <Slides>11</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11</vt:i4>
      </vt:variant>
    </vt:vector>
  </HeadingPairs>
  <TitlesOfParts>
    <vt:vector size="22" baseType="lpstr">
      <vt:lpstr>Arial</vt:lpstr>
      <vt:lpstr>SimSun</vt:lpstr>
      <vt:lpstr>Wingdings</vt:lpstr>
      <vt:lpstr>Footlight MT Light</vt:lpstr>
      <vt:lpstr>Times New Roman</vt:lpstr>
      <vt:lpstr>Calibri</vt:lpstr>
      <vt:lpstr>Microsoft YaHei</vt:lpstr>
      <vt:lpstr>Arial Unicode MS</vt:lpstr>
      <vt:lpstr>Calibri Light</vt:lpstr>
      <vt:lpstr>Georgia</vt:lpstr>
      <vt:lpstr>Office Theme</vt:lpstr>
      <vt:lpstr>FASHION_WAVE SALES PERFORMANCE DASHBOARD</vt:lpstr>
      <vt:lpstr>PROJECT OVERVIEW AND BUSINESS PROBLEM</vt:lpstr>
      <vt:lpstr>PowerPoint 演示文稿</vt:lpstr>
      <vt:lpstr>PowerPoint 演示文稿</vt:lpstr>
      <vt:lpstr>INSIGHTS AND KEY FINDINGS</vt:lpstr>
      <vt:lpstr>KPI Metrics &amp; Performance Summary</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Shraddha goyal</dc:creator>
  <cp:lastModifiedBy>WPS_1729564182</cp:lastModifiedBy>
  <cp:revision>12</cp:revision>
  <dcterms:created xsi:type="dcterms:W3CDTF">2025-07-23T00:59:00Z</dcterms:created>
  <dcterms:modified xsi:type="dcterms:W3CDTF">2025-12-02T14:49:00Z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C87EA7D10F82410895BA4685801FCB34_13</vt:lpwstr>
  </property>
  <property fmtid="{D5CDD505-2E9C-101B-9397-08002B2CF9AE}" pid="3" name="KSOProductBuildVer">
    <vt:lpwstr>1033-12.2.0.23155</vt:lpwstr>
  </property>
</Properties>
</file>